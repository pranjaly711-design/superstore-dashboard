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Familjen Grotesk Bold" panose="020B0604020202020204" charset="0"/>
      <p:regular r:id="rId13"/>
    </p:embeddedFont>
    <p:embeddedFont>
      <p:font typeface="Familjen Grotesk Medium" panose="020B0604020202020204" charset="0"/>
      <p:regular r:id="rId14"/>
    </p:embeddedFont>
    <p:embeddedFont>
      <p:font typeface="Familjen Grotesk SemiBold" panose="020B0604020202020204" charset="0"/>
      <p:regular r:id="rId15"/>
    </p:embeddedFont>
    <p:embeddedFont>
      <p:font typeface="Newsreader" panose="020B0604020202020204" charset="0"/>
      <p:regular r:id="rId16"/>
    </p:embeddedFont>
    <p:embeddedFont>
      <p:font typeface="Nunito Sans" pitchFamily="2" charset="0"/>
      <p:regular r:id="rId17"/>
    </p:embeddedFont>
    <p:embeddedFont>
      <p:font typeface="Nunito Sans Bold" panose="020B0604020202020204" charset="0"/>
      <p:regular r:id="rId18"/>
    </p:embeddedFont>
    <p:embeddedFont>
      <p:font typeface="Nunito Sans SemiBold" pitchFamily="2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43626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everyone. This presentation covers the end-to-end Superstore sales dashboard project, spanning Python data preprocessing, Power BI data modeling, KPI tracking, and strategic business findings.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begin with the core project framework: defining the underlying business problem, aligning analytical objectives, and establishing clear expected outcomes for decision makers.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Superstore dataset provides commercial retail transactions exceeding 9,994 records across dimensional and numeric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rigorous eight-step data preparation pipeline in Python cleansed missing and duplicate records, corrected data types, and engineered temporal features for downstream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four foundational KPIs summarize executive performance across the entire dataset: 2.30M in Total Sales, 286.40K in Profit, 38K Units in Quantity, and 1.56K in Discount allowances.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Examining annual performance shows compounding multi-year expansion, with Sales by Year and Profit by Year reflecting strong top-line momentum across the evaluation timeline.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 performance evaluates Technology, Furniture, and Office Supplies, pinpointing Top Profit Sub-Categories that drive disproportionate contribution to enterprise net earnings.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Territory analysis spans West, East, Central, and South regions, while audience segmentation tracks purchasing patterns across Consumer, Corporate, and Home Office groups.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takeaways confirm that Technology leads total sales, Consumer drives maximum revenue, West proves the most resilient operating region, and Standard Class delivers superior profitability.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063898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063898" cy="6858000"/>
          </a:xfrm>
          <a:prstGeom prst="rect">
            <a:avLst/>
          </a:prstGeom>
          <a:solidFill>
            <a:srgbClr val="1F4D3A">
              <a:alpha val="55000"/>
            </a:srgbClr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3898" y="0"/>
            <a:ext cx="4063898" cy="68580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063898" y="0"/>
            <a:ext cx="4063898" cy="6858000"/>
          </a:xfrm>
          <a:prstGeom prst="rect">
            <a:avLst/>
          </a:prstGeom>
          <a:solidFill>
            <a:srgbClr val="5FA8D3">
              <a:alpha val="55000"/>
            </a:srgbClr>
          </a:solidFill>
          <a:ln/>
        </p:spPr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7797" y="0"/>
            <a:ext cx="4063898" cy="685800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8127797" y="0"/>
            <a:ext cx="4063898" cy="6858000"/>
          </a:xfrm>
          <a:prstGeom prst="rect">
            <a:avLst/>
          </a:prstGeom>
          <a:solidFill>
            <a:srgbClr val="E8A33D">
              <a:alpha val="55000"/>
            </a:srgbClr>
          </a:solidFill>
          <a:ln/>
        </p:spPr>
      </p:sp>
      <p:sp>
        <p:nvSpPr>
          <p:cNvPr id="8" name="Shape 3"/>
          <p:cNvSpPr/>
          <p:nvPr/>
        </p:nvSpPr>
        <p:spPr>
          <a:xfrm>
            <a:off x="0" y="4445000"/>
            <a:ext cx="12191695" cy="2413000"/>
          </a:xfrm>
          <a:prstGeom prst="rect">
            <a:avLst/>
          </a:prstGeom>
          <a:solidFill>
            <a:srgbClr val="141A17">
              <a:alpha val="66000"/>
            </a:srgbClr>
          </a:solidFill>
          <a:ln/>
        </p:spPr>
      </p:sp>
      <p:sp>
        <p:nvSpPr>
          <p:cNvPr id="9" name="Text 4"/>
          <p:cNvSpPr/>
          <p:nvPr/>
        </p:nvSpPr>
        <p:spPr>
          <a:xfrm>
            <a:off x="609585" y="5278438"/>
            <a:ext cx="11582110" cy="225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50" kern="100" spc="100" dirty="0">
                <a:solidFill>
                  <a:srgbClr val="FFFFFF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BUSINESS INTELLIGENCE · POWER BI &amp; PYTHON PORTFOLIO</a:t>
            </a:r>
            <a:endParaRPr lang="en-US" sz="1250" dirty="0"/>
          </a:p>
        </p:txBody>
      </p:sp>
      <p:sp>
        <p:nvSpPr>
          <p:cNvPr id="10" name="Text 5"/>
          <p:cNvSpPr/>
          <p:nvPr/>
        </p:nvSpPr>
        <p:spPr>
          <a:xfrm>
            <a:off x="609585" y="5830888"/>
            <a:ext cx="10972526" cy="569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4400" b="1" kern="100" spc="-88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Superstore Sales Dashboard Analysis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508000"/>
            <a:ext cx="7111822" cy="388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000" b="1" kern="100" spc="-60" dirty="0">
                <a:solidFill>
                  <a:srgbClr val="141A17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58786" y="1134666"/>
            <a:ext cx="1777956" cy="38100"/>
          </a:xfrm>
          <a:prstGeom prst="roundRect">
            <a:avLst>
              <a:gd name="adj" fmla="val 49999"/>
            </a:avLst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558786" y="1753791"/>
            <a:ext cx="983928" cy="304800"/>
          </a:xfrm>
          <a:prstGeom prst="roundRect">
            <a:avLst>
              <a:gd name="adj" fmla="val 7500"/>
            </a:avLst>
          </a:prstGeom>
          <a:solidFill>
            <a:srgbClr val="DBF0E7"/>
          </a:solidFill>
          <a:ln/>
        </p:spPr>
      </p:sp>
      <p:sp>
        <p:nvSpPr>
          <p:cNvPr id="5" name="Text 3"/>
          <p:cNvSpPr/>
          <p:nvPr/>
        </p:nvSpPr>
        <p:spPr>
          <a:xfrm>
            <a:off x="673083" y="1810941"/>
            <a:ext cx="136491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100" spc="96" dirty="0">
                <a:solidFill>
                  <a:srgbClr val="262E29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PROBLEM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678641" y="1753791"/>
            <a:ext cx="4991967" cy="324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800" b="1" dirty="0">
                <a:solidFill>
                  <a:srgbClr val="262E29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Business problem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58786" y="2535535"/>
            <a:ext cx="832226" cy="304800"/>
          </a:xfrm>
          <a:prstGeom prst="roundRect">
            <a:avLst>
              <a:gd name="adj" fmla="val 7500"/>
            </a:avLst>
          </a:prstGeom>
          <a:solidFill>
            <a:srgbClr val="DBF0E7"/>
          </a:solidFill>
          <a:ln/>
        </p:spPr>
      </p:sp>
      <p:sp>
        <p:nvSpPr>
          <p:cNvPr id="8" name="Text 6"/>
          <p:cNvSpPr/>
          <p:nvPr/>
        </p:nvSpPr>
        <p:spPr>
          <a:xfrm>
            <a:off x="673083" y="2592685"/>
            <a:ext cx="121321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100" spc="96" dirty="0">
                <a:solidFill>
                  <a:srgbClr val="262E29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TARGET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678641" y="2535535"/>
            <a:ext cx="4991967" cy="324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800" b="1" dirty="0">
                <a:solidFill>
                  <a:srgbClr val="262E29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58786" y="3317280"/>
            <a:ext cx="1374939" cy="304800"/>
          </a:xfrm>
          <a:prstGeom prst="roundRect">
            <a:avLst>
              <a:gd name="adj" fmla="val 7500"/>
            </a:avLst>
          </a:prstGeom>
          <a:solidFill>
            <a:srgbClr val="DBF0E7"/>
          </a:solidFill>
          <a:ln/>
        </p:spPr>
      </p:sp>
      <p:sp>
        <p:nvSpPr>
          <p:cNvPr id="11" name="Text 9"/>
          <p:cNvSpPr/>
          <p:nvPr/>
        </p:nvSpPr>
        <p:spPr>
          <a:xfrm>
            <a:off x="673083" y="3374430"/>
            <a:ext cx="170086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100" spc="96" dirty="0">
                <a:solidFill>
                  <a:srgbClr val="262E29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DELIVERABLES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78641" y="3317280"/>
            <a:ext cx="4991967" cy="324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800" b="1" dirty="0">
                <a:solidFill>
                  <a:srgbClr val="262E29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Expected outcomes</a:t>
            </a:r>
            <a:endParaRPr lang="en-US" sz="18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7797" y="0"/>
            <a:ext cx="4063898" cy="68580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558786" y="2300585"/>
            <a:ext cx="7111822" cy="12700"/>
          </a:xfrm>
          <a:prstGeom prst="rect">
            <a:avLst/>
          </a:prstGeom>
          <a:solidFill>
            <a:srgbClr val="141A17">
              <a:alpha val="24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558786" y="3082330"/>
            <a:ext cx="7111822" cy="12700"/>
          </a:xfrm>
          <a:prstGeom prst="rect">
            <a:avLst/>
          </a:prstGeom>
          <a:solidFill>
            <a:srgbClr val="141A17">
              <a:alpha val="24000"/>
            </a:srgbClr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508000"/>
            <a:ext cx="7518212" cy="388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000" b="1" kern="100" spc="-60" dirty="0">
                <a:solidFill>
                  <a:srgbClr val="141A17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58786" y="1134666"/>
            <a:ext cx="1879454" cy="38100"/>
          </a:xfrm>
          <a:prstGeom prst="roundRect">
            <a:avLst>
              <a:gd name="adj" fmla="val 49999"/>
            </a:avLst>
          </a:prstGeom>
          <a:solidFill>
            <a:srgbClr val="E8A33D"/>
          </a:solidFill>
          <a:ln/>
        </p:spPr>
      </p:sp>
      <p:sp>
        <p:nvSpPr>
          <p:cNvPr id="4" name="Text 2"/>
          <p:cNvSpPr/>
          <p:nvPr/>
        </p:nvSpPr>
        <p:spPr>
          <a:xfrm>
            <a:off x="558786" y="1734741"/>
            <a:ext cx="83817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1F4D3A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01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39776" y="1652191"/>
            <a:ext cx="7137221" cy="324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800" b="1" dirty="0">
                <a:solidFill>
                  <a:srgbClr val="262E29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Source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58786" y="2414885"/>
            <a:ext cx="83817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1F4D3A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02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39776" y="2332335"/>
            <a:ext cx="7137221" cy="324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800" b="1" dirty="0">
                <a:solidFill>
                  <a:srgbClr val="262E29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Columns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58786" y="3095030"/>
            <a:ext cx="83817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1F4D3A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03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39776" y="3012480"/>
            <a:ext cx="7137221" cy="324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800" b="1" dirty="0">
                <a:solidFill>
                  <a:srgbClr val="262E29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Records (9,994+)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58786" y="3775174"/>
            <a:ext cx="83817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1F4D3A"/>
                </a:solidFill>
                <a:latin typeface="Nunito Sans SemiBold" pitchFamily="34" charset="0"/>
                <a:ea typeface="Nunito Sans SemiBold" pitchFamily="34" charset="-122"/>
                <a:cs typeface="Nunito Sans SemiBold" pitchFamily="34" charset="-120"/>
              </a:rPr>
              <a:t>04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39776" y="3692624"/>
            <a:ext cx="7137221" cy="324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800" b="1" dirty="0">
                <a:solidFill>
                  <a:srgbClr val="262E29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Features</a:t>
            </a:r>
            <a:endParaRPr lang="en-US" sz="18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187" y="0"/>
            <a:ext cx="3657509" cy="685800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558786" y="2148185"/>
            <a:ext cx="7518212" cy="12700"/>
          </a:xfrm>
          <a:prstGeom prst="rect">
            <a:avLst/>
          </a:prstGeom>
          <a:solidFill>
            <a:srgbClr val="141A17">
              <a:alpha val="24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558786" y="2828330"/>
            <a:ext cx="7518212" cy="12700"/>
          </a:xfrm>
          <a:prstGeom prst="rect">
            <a:avLst/>
          </a:prstGeom>
          <a:solidFill>
            <a:srgbClr val="141A17">
              <a:alpha val="24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558786" y="3508474"/>
            <a:ext cx="7518212" cy="12700"/>
          </a:xfrm>
          <a:prstGeom prst="rect">
            <a:avLst/>
          </a:prstGeom>
          <a:solidFill>
            <a:srgbClr val="141A17">
              <a:alpha val="24000"/>
            </a:srgbClr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457200"/>
            <a:ext cx="11074123" cy="407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000" b="1" kern="100" spc="-60" dirty="0">
                <a:solidFill>
                  <a:srgbClr val="141A17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Python Data Cleaning </a:t>
            </a:r>
            <a:r>
              <a:rPr lang="en-US" sz="3000" b="1" kern="100" spc="-6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✅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58786" y="1055291"/>
            <a:ext cx="11632909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23" dirty="0">
                <a:solidFill>
                  <a:srgbClr val="57615A"/>
                </a:solidFill>
                <a:latin typeface="Familjen Grotesk Medium" pitchFamily="34" charset="0"/>
                <a:ea typeface="Familjen Grotesk Medium" pitchFamily="34" charset="-122"/>
                <a:cs typeface="Familjen Grotesk Medium" pitchFamily="34" charset="-120"/>
              </a:rPr>
              <a:t>Data Cleaning Steps Performed: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58786" y="1422896"/>
            <a:ext cx="1005855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600" b="1" dirty="0">
                <a:solidFill>
                  <a:srgbClr val="1F4D3A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58786" y="1829296"/>
            <a:ext cx="2616135" cy="19050"/>
          </a:xfrm>
          <a:prstGeom prst="rect">
            <a:avLst/>
          </a:prstGeom>
          <a:solidFill>
            <a:srgbClr val="1F4D3A"/>
          </a:solidFill>
          <a:ln/>
        </p:spPr>
      </p:sp>
      <p:sp>
        <p:nvSpPr>
          <p:cNvPr id="6" name="Text 4"/>
          <p:cNvSpPr/>
          <p:nvPr/>
        </p:nvSpPr>
        <p:spPr>
          <a:xfrm>
            <a:off x="558786" y="1943596"/>
            <a:ext cx="2616135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141A17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Imported dataset using Pandas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479713" y="1422896"/>
            <a:ext cx="1005855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600" b="1" dirty="0">
                <a:solidFill>
                  <a:srgbClr val="1F4D3A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02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479713" y="1829296"/>
            <a:ext cx="2463738" cy="19050"/>
          </a:xfrm>
          <a:prstGeom prst="rect">
            <a:avLst/>
          </a:prstGeom>
          <a:solidFill>
            <a:srgbClr val="1F4D3A"/>
          </a:solidFill>
          <a:ln/>
        </p:spPr>
      </p:sp>
      <p:sp>
        <p:nvSpPr>
          <p:cNvPr id="9" name="Text 7"/>
          <p:cNvSpPr/>
          <p:nvPr/>
        </p:nvSpPr>
        <p:spPr>
          <a:xfrm>
            <a:off x="3479713" y="1943596"/>
            <a:ext cx="2463738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141A17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Checked null values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248244" y="1422896"/>
            <a:ext cx="1005855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600" b="1" dirty="0">
                <a:solidFill>
                  <a:srgbClr val="1F4D3A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03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6248244" y="1829296"/>
            <a:ext cx="2463738" cy="19050"/>
          </a:xfrm>
          <a:prstGeom prst="rect">
            <a:avLst/>
          </a:prstGeom>
          <a:solidFill>
            <a:srgbClr val="1F4D3A"/>
          </a:solidFill>
          <a:ln/>
        </p:spPr>
      </p:sp>
      <p:sp>
        <p:nvSpPr>
          <p:cNvPr id="12" name="Text 10"/>
          <p:cNvSpPr/>
          <p:nvPr/>
        </p:nvSpPr>
        <p:spPr>
          <a:xfrm>
            <a:off x="6248244" y="1943596"/>
            <a:ext cx="2463738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141A17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Removed duplicates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016774" y="1422896"/>
            <a:ext cx="1005855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600" b="1" dirty="0">
                <a:solidFill>
                  <a:srgbClr val="1F4D3A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04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9016774" y="1829296"/>
            <a:ext cx="2616135" cy="19050"/>
          </a:xfrm>
          <a:prstGeom prst="rect">
            <a:avLst/>
          </a:prstGeom>
          <a:solidFill>
            <a:srgbClr val="1F4D3A"/>
          </a:solidFill>
          <a:ln/>
        </p:spPr>
      </p:sp>
      <p:sp>
        <p:nvSpPr>
          <p:cNvPr id="15" name="Text 13"/>
          <p:cNvSpPr/>
          <p:nvPr/>
        </p:nvSpPr>
        <p:spPr>
          <a:xfrm>
            <a:off x="9016774" y="1943596"/>
            <a:ext cx="2616135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141A17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Converted Order Date to DateTime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58786" y="2776637"/>
            <a:ext cx="1005855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600" b="1" dirty="0">
                <a:solidFill>
                  <a:srgbClr val="1F4D3A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05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558786" y="3183037"/>
            <a:ext cx="2616135" cy="19050"/>
          </a:xfrm>
          <a:prstGeom prst="rect">
            <a:avLst/>
          </a:prstGeom>
          <a:solidFill>
            <a:srgbClr val="1F4D3A"/>
          </a:solidFill>
          <a:ln/>
        </p:spPr>
      </p:sp>
      <p:sp>
        <p:nvSpPr>
          <p:cNvPr id="18" name="Text 16"/>
          <p:cNvSpPr/>
          <p:nvPr/>
        </p:nvSpPr>
        <p:spPr>
          <a:xfrm>
            <a:off x="558786" y="3297337"/>
            <a:ext cx="2616135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141A17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Fixed data types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479713" y="2776637"/>
            <a:ext cx="1005855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600" b="1" dirty="0">
                <a:solidFill>
                  <a:srgbClr val="1F4D3A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06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3479713" y="3183037"/>
            <a:ext cx="2463738" cy="19050"/>
          </a:xfrm>
          <a:prstGeom prst="rect">
            <a:avLst/>
          </a:prstGeom>
          <a:solidFill>
            <a:srgbClr val="1F4D3A"/>
          </a:solidFill>
          <a:ln/>
        </p:spPr>
      </p:sp>
      <p:sp>
        <p:nvSpPr>
          <p:cNvPr id="21" name="Text 19"/>
          <p:cNvSpPr/>
          <p:nvPr/>
        </p:nvSpPr>
        <p:spPr>
          <a:xfrm>
            <a:off x="3479713" y="3297337"/>
            <a:ext cx="2463738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141A17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Handled missing values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248244" y="2776637"/>
            <a:ext cx="1005855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600" b="1" dirty="0">
                <a:solidFill>
                  <a:srgbClr val="1F4D3A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07</a:t>
            </a:r>
            <a:endParaRPr lang="en-US" sz="2600" dirty="0"/>
          </a:p>
        </p:txBody>
      </p:sp>
      <p:sp>
        <p:nvSpPr>
          <p:cNvPr id="23" name="Shape 21"/>
          <p:cNvSpPr/>
          <p:nvPr/>
        </p:nvSpPr>
        <p:spPr>
          <a:xfrm>
            <a:off x="6248244" y="3183037"/>
            <a:ext cx="2463738" cy="19050"/>
          </a:xfrm>
          <a:prstGeom prst="rect">
            <a:avLst/>
          </a:prstGeom>
          <a:solidFill>
            <a:srgbClr val="1F4D3A"/>
          </a:solidFill>
          <a:ln/>
        </p:spPr>
      </p:sp>
      <p:sp>
        <p:nvSpPr>
          <p:cNvPr id="24" name="Text 22"/>
          <p:cNvSpPr/>
          <p:nvPr/>
        </p:nvSpPr>
        <p:spPr>
          <a:xfrm>
            <a:off x="6248244" y="3297337"/>
            <a:ext cx="2463738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141A17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Created Year &amp; Month columns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016774" y="2776637"/>
            <a:ext cx="1005855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600" b="1" dirty="0">
                <a:solidFill>
                  <a:srgbClr val="1F4D3A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08</a:t>
            </a:r>
            <a:endParaRPr lang="en-US" sz="2600" dirty="0"/>
          </a:p>
        </p:txBody>
      </p:sp>
      <p:sp>
        <p:nvSpPr>
          <p:cNvPr id="26" name="Shape 24"/>
          <p:cNvSpPr/>
          <p:nvPr/>
        </p:nvSpPr>
        <p:spPr>
          <a:xfrm>
            <a:off x="9016774" y="3183037"/>
            <a:ext cx="2616135" cy="19050"/>
          </a:xfrm>
          <a:prstGeom prst="rect">
            <a:avLst/>
          </a:prstGeom>
          <a:solidFill>
            <a:srgbClr val="1F4D3A"/>
          </a:solidFill>
          <a:ln/>
        </p:spPr>
      </p:sp>
      <p:sp>
        <p:nvSpPr>
          <p:cNvPr id="27" name="Text 25"/>
          <p:cNvSpPr/>
          <p:nvPr/>
        </p:nvSpPr>
        <p:spPr>
          <a:xfrm>
            <a:off x="9016774" y="3297337"/>
            <a:ext cx="2616135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141A17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Prepared clean dataset for Power BI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58786" y="5972175"/>
            <a:ext cx="11074123" cy="479425"/>
          </a:xfrm>
          <a:prstGeom prst="rect">
            <a:avLst/>
          </a:prstGeom>
          <a:solidFill>
            <a:srgbClr val="EDE4D2"/>
          </a:solidFill>
          <a:ln/>
        </p:spPr>
      </p:sp>
      <p:sp>
        <p:nvSpPr>
          <p:cNvPr id="29" name="Text 27"/>
          <p:cNvSpPr/>
          <p:nvPr/>
        </p:nvSpPr>
        <p:spPr>
          <a:xfrm>
            <a:off x="761981" y="6099175"/>
            <a:ext cx="10870928" cy="225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Tools: Python, Pandas, NumPy</a:t>
            </a:r>
            <a:endParaRPr lang="en-US" sz="125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5DDED33-1F8C-8CE0-F9DC-83F0312B97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4808" y="6451600"/>
            <a:ext cx="1168587" cy="3398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508000"/>
            <a:ext cx="7111822" cy="388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000" b="1" kern="100" spc="-60" dirty="0">
                <a:solidFill>
                  <a:srgbClr val="141A17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Data Modeling in Power BI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58786" y="1134666"/>
            <a:ext cx="1777956" cy="38100"/>
          </a:xfrm>
          <a:prstGeom prst="roundRect">
            <a:avLst>
              <a:gd name="adj" fmla="val 49999"/>
            </a:avLst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558786" y="1448991"/>
            <a:ext cx="3403515" cy="787400"/>
          </a:xfrm>
          <a:prstGeom prst="rect">
            <a:avLst/>
          </a:prstGeom>
          <a:solidFill>
            <a:srgbClr val="EDE4D2"/>
          </a:solidFill>
          <a:ln/>
        </p:spPr>
      </p:sp>
      <p:sp>
        <p:nvSpPr>
          <p:cNvPr id="5" name="Text 3"/>
          <p:cNvSpPr/>
          <p:nvPr/>
        </p:nvSpPr>
        <p:spPr>
          <a:xfrm>
            <a:off x="787380" y="1677591"/>
            <a:ext cx="294632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262E2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Star Schema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267093" y="1448991"/>
            <a:ext cx="3403515" cy="787400"/>
          </a:xfrm>
          <a:prstGeom prst="rect">
            <a:avLst/>
          </a:prstGeom>
          <a:solidFill>
            <a:srgbClr val="EDE4D2"/>
          </a:solidFill>
          <a:ln/>
        </p:spPr>
      </p:sp>
      <p:sp>
        <p:nvSpPr>
          <p:cNvPr id="7" name="Text 5"/>
          <p:cNvSpPr/>
          <p:nvPr/>
        </p:nvSpPr>
        <p:spPr>
          <a:xfrm>
            <a:off x="4495688" y="1677591"/>
            <a:ext cx="294632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262E2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Date Table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58786" y="2541191"/>
            <a:ext cx="3403515" cy="787400"/>
          </a:xfrm>
          <a:prstGeom prst="rect">
            <a:avLst/>
          </a:prstGeom>
          <a:solidFill>
            <a:srgbClr val="EDE4D2"/>
          </a:solidFill>
          <a:ln/>
        </p:spPr>
      </p:sp>
      <p:sp>
        <p:nvSpPr>
          <p:cNvPr id="9" name="Text 7"/>
          <p:cNvSpPr/>
          <p:nvPr/>
        </p:nvSpPr>
        <p:spPr>
          <a:xfrm>
            <a:off x="787380" y="2769791"/>
            <a:ext cx="294632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262E2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Relationships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267093" y="2541191"/>
            <a:ext cx="3403515" cy="787400"/>
          </a:xfrm>
          <a:prstGeom prst="rect">
            <a:avLst/>
          </a:prstGeom>
          <a:solidFill>
            <a:srgbClr val="EDE4D2"/>
          </a:solidFill>
          <a:ln/>
        </p:spPr>
      </p:sp>
      <p:sp>
        <p:nvSpPr>
          <p:cNvPr id="11" name="Text 9"/>
          <p:cNvSpPr/>
          <p:nvPr/>
        </p:nvSpPr>
        <p:spPr>
          <a:xfrm>
            <a:off x="4495688" y="2769791"/>
            <a:ext cx="294632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262E2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DAX Measures</a:t>
            </a:r>
            <a:endParaRPr lang="en-US" sz="20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7797" y="0"/>
            <a:ext cx="406389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508000"/>
            <a:ext cx="11074123" cy="388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000" b="1" kern="100" spc="-60" dirty="0">
                <a:solidFill>
                  <a:srgbClr val="141A17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KPI Dashboard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58786" y="1134666"/>
            <a:ext cx="2768531" cy="38100"/>
          </a:xfrm>
          <a:prstGeom prst="roundRect">
            <a:avLst>
              <a:gd name="adj" fmla="val 49999"/>
            </a:avLst>
          </a:prstGeom>
          <a:solidFill>
            <a:srgbClr val="E8A33D"/>
          </a:solidFill>
          <a:ln/>
        </p:spPr>
      </p:sp>
      <p:sp>
        <p:nvSpPr>
          <p:cNvPr id="4" name="Text 2"/>
          <p:cNvSpPr/>
          <p:nvPr/>
        </p:nvSpPr>
        <p:spPr>
          <a:xfrm>
            <a:off x="558786" y="2310011"/>
            <a:ext cx="2768531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100" spc="88" dirty="0">
                <a:solidFill>
                  <a:srgbClr val="1F4D3A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REVENUE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58786" y="2560836"/>
            <a:ext cx="2539936" cy="1975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7200" kern="100" spc="-36" dirty="0">
                <a:solidFill>
                  <a:srgbClr val="141A1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2.30M</a:t>
            </a:r>
            <a:endParaRPr lang="en-US" sz="7200" dirty="0"/>
          </a:p>
        </p:txBody>
      </p:sp>
      <p:sp>
        <p:nvSpPr>
          <p:cNvPr id="6" name="Shape 4"/>
          <p:cNvSpPr/>
          <p:nvPr/>
        </p:nvSpPr>
        <p:spPr>
          <a:xfrm>
            <a:off x="558786" y="4774009"/>
            <a:ext cx="634984" cy="38100"/>
          </a:xfrm>
          <a:prstGeom prst="roundRect">
            <a:avLst>
              <a:gd name="adj" fmla="val 49999"/>
            </a:avLst>
          </a:prstGeom>
          <a:solidFill>
            <a:srgbClr val="1F4D3A"/>
          </a:solidFill>
          <a:ln/>
        </p:spPr>
      </p:sp>
      <p:sp>
        <p:nvSpPr>
          <p:cNvPr id="7" name="Text 5"/>
          <p:cNvSpPr/>
          <p:nvPr/>
        </p:nvSpPr>
        <p:spPr>
          <a:xfrm>
            <a:off x="558786" y="4935934"/>
            <a:ext cx="2768531" cy="324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800" b="1" dirty="0">
                <a:solidFill>
                  <a:srgbClr val="262E29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Total Sales: 2.30M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555911" y="2310011"/>
            <a:ext cx="2539936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100" spc="88" dirty="0">
                <a:solidFill>
                  <a:srgbClr val="1F4D3A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NET EARNINGS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555911" y="2560836"/>
            <a:ext cx="2311342" cy="1975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7200" kern="100" spc="-36" dirty="0">
                <a:solidFill>
                  <a:srgbClr val="141A1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286.40K</a:t>
            </a:r>
            <a:endParaRPr lang="en-US" sz="7200" dirty="0"/>
          </a:p>
        </p:txBody>
      </p:sp>
      <p:sp>
        <p:nvSpPr>
          <p:cNvPr id="10" name="Shape 8"/>
          <p:cNvSpPr/>
          <p:nvPr/>
        </p:nvSpPr>
        <p:spPr>
          <a:xfrm>
            <a:off x="3555911" y="4774009"/>
            <a:ext cx="577836" cy="38100"/>
          </a:xfrm>
          <a:prstGeom prst="roundRect">
            <a:avLst>
              <a:gd name="adj" fmla="val 49999"/>
            </a:avLst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3555911" y="4935934"/>
            <a:ext cx="2539936" cy="324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800" b="1" dirty="0">
                <a:solidFill>
                  <a:srgbClr val="262E29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Profit: 286.40K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324442" y="2310011"/>
            <a:ext cx="2539936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100" spc="88" dirty="0">
                <a:solidFill>
                  <a:srgbClr val="1F4D3A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VOLUME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24442" y="2560836"/>
            <a:ext cx="2311342" cy="987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7200" kern="100" spc="-36" dirty="0">
                <a:solidFill>
                  <a:srgbClr val="141A1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38K</a:t>
            </a:r>
            <a:endParaRPr lang="en-US" sz="7200" dirty="0"/>
          </a:p>
        </p:txBody>
      </p:sp>
      <p:sp>
        <p:nvSpPr>
          <p:cNvPr id="14" name="Shape 12"/>
          <p:cNvSpPr/>
          <p:nvPr/>
        </p:nvSpPr>
        <p:spPr>
          <a:xfrm>
            <a:off x="6324442" y="3786485"/>
            <a:ext cx="577836" cy="38100"/>
          </a:xfrm>
          <a:prstGeom prst="roundRect">
            <a:avLst>
              <a:gd name="adj" fmla="val 49999"/>
            </a:avLst>
          </a:prstGeom>
          <a:solidFill>
            <a:srgbClr val="5FA8D3"/>
          </a:solidFill>
          <a:ln/>
        </p:spPr>
      </p:sp>
      <p:sp>
        <p:nvSpPr>
          <p:cNvPr id="15" name="Text 13"/>
          <p:cNvSpPr/>
          <p:nvPr/>
        </p:nvSpPr>
        <p:spPr>
          <a:xfrm>
            <a:off x="6324442" y="3948410"/>
            <a:ext cx="2539936" cy="324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800" b="1" dirty="0">
                <a:solidFill>
                  <a:srgbClr val="262E29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Quantity: 38K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092973" y="2310011"/>
            <a:ext cx="2539936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100" spc="88" dirty="0">
                <a:solidFill>
                  <a:srgbClr val="1F4D3A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INCENTIVES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092973" y="2560836"/>
            <a:ext cx="2539936" cy="987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7200" kern="100" spc="-36" dirty="0">
                <a:solidFill>
                  <a:srgbClr val="141A17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1.56K</a:t>
            </a:r>
            <a:endParaRPr lang="en-US" sz="7200" dirty="0"/>
          </a:p>
        </p:txBody>
      </p:sp>
      <p:sp>
        <p:nvSpPr>
          <p:cNvPr id="18" name="Shape 16"/>
          <p:cNvSpPr/>
          <p:nvPr/>
        </p:nvSpPr>
        <p:spPr>
          <a:xfrm>
            <a:off x="9092973" y="3786485"/>
            <a:ext cx="634984" cy="38100"/>
          </a:xfrm>
          <a:prstGeom prst="roundRect">
            <a:avLst>
              <a:gd name="adj" fmla="val 49999"/>
            </a:avLst>
          </a:prstGeom>
          <a:solidFill>
            <a:srgbClr val="141A17"/>
          </a:solidFill>
          <a:ln/>
        </p:spPr>
      </p:sp>
      <p:sp>
        <p:nvSpPr>
          <p:cNvPr id="19" name="Text 17"/>
          <p:cNvSpPr/>
          <p:nvPr/>
        </p:nvSpPr>
        <p:spPr>
          <a:xfrm>
            <a:off x="9092973" y="3948410"/>
            <a:ext cx="2539936" cy="324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800" b="1" dirty="0">
                <a:solidFill>
                  <a:srgbClr val="262E29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Discount: 1.56K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3320967" y="2310011"/>
            <a:ext cx="12700" cy="2950468"/>
          </a:xfrm>
          <a:prstGeom prst="rect">
            <a:avLst/>
          </a:prstGeom>
          <a:solidFill>
            <a:srgbClr val="141A17">
              <a:alpha val="24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089498" y="2310011"/>
            <a:ext cx="12700" cy="2950468"/>
          </a:xfrm>
          <a:prstGeom prst="rect">
            <a:avLst/>
          </a:prstGeom>
          <a:solidFill>
            <a:srgbClr val="141A17">
              <a:alpha val="24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858028" y="2310011"/>
            <a:ext cx="12700" cy="2950468"/>
          </a:xfrm>
          <a:prstGeom prst="rect">
            <a:avLst/>
          </a:prstGeom>
          <a:solidFill>
            <a:srgbClr val="141A17">
              <a:alpha val="24000"/>
            </a:srgbClr>
          </a:solidFill>
          <a:ln/>
        </p:spPr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9EEA0488-D9CA-84B6-DA9D-D8E6DB3263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1594" y="6043607"/>
            <a:ext cx="1920406" cy="8077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457200"/>
            <a:ext cx="11074123" cy="388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000" b="1" kern="100" spc="-60" dirty="0">
                <a:solidFill>
                  <a:srgbClr val="141A17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Sales Trend Analysis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58786" y="1036241"/>
            <a:ext cx="11632909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23" dirty="0">
                <a:solidFill>
                  <a:srgbClr val="57615A"/>
                </a:solidFill>
                <a:latin typeface="Familjen Grotesk Medium" pitchFamily="34" charset="0"/>
                <a:ea typeface="Familjen Grotesk Medium" pitchFamily="34" charset="-122"/>
                <a:cs typeface="Familjen Grotesk Medium" pitchFamily="34" charset="-120"/>
              </a:rPr>
              <a:t>Annual performance progression and growth analysis</a:t>
            </a:r>
            <a:endParaRPr lang="en-US" sz="11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786" y="2151459"/>
            <a:ext cx="6724085" cy="35524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39960" y="2655193"/>
            <a:ext cx="959719" cy="304800"/>
          </a:xfrm>
          <a:prstGeom prst="roundRect">
            <a:avLst>
              <a:gd name="adj" fmla="val 7500"/>
            </a:avLst>
          </a:prstGeom>
          <a:solidFill>
            <a:srgbClr val="DBF0E7"/>
          </a:solidFill>
          <a:ln/>
        </p:spPr>
      </p:sp>
      <p:sp>
        <p:nvSpPr>
          <p:cNvPr id="6" name="Text 3"/>
          <p:cNvSpPr/>
          <p:nvPr/>
        </p:nvSpPr>
        <p:spPr>
          <a:xfrm>
            <a:off x="7854257" y="2712343"/>
            <a:ext cx="134070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100" spc="96" dirty="0">
                <a:solidFill>
                  <a:srgbClr val="262E29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REVENUE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739960" y="3036193"/>
            <a:ext cx="3892949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141A17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Sales by Year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739960" y="3605113"/>
            <a:ext cx="1037008" cy="304800"/>
          </a:xfrm>
          <a:prstGeom prst="roundRect">
            <a:avLst>
              <a:gd name="adj" fmla="val 7500"/>
            </a:avLst>
          </a:prstGeom>
          <a:solidFill>
            <a:srgbClr val="DBF0E7"/>
          </a:solidFill>
          <a:ln/>
        </p:spPr>
      </p:sp>
      <p:sp>
        <p:nvSpPr>
          <p:cNvPr id="9" name="Text 6"/>
          <p:cNvSpPr/>
          <p:nvPr/>
        </p:nvSpPr>
        <p:spPr>
          <a:xfrm>
            <a:off x="7854257" y="3662263"/>
            <a:ext cx="141799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100" spc="96" dirty="0">
                <a:solidFill>
                  <a:srgbClr val="262E29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EARNINGS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739960" y="3986113"/>
            <a:ext cx="3892949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141A17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Profit by Year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739960" y="4555034"/>
            <a:ext cx="1194167" cy="304800"/>
          </a:xfrm>
          <a:prstGeom prst="roundRect">
            <a:avLst>
              <a:gd name="adj" fmla="val 7500"/>
            </a:avLst>
          </a:prstGeom>
          <a:solidFill>
            <a:srgbClr val="DBF0E7"/>
          </a:solidFill>
          <a:ln/>
        </p:spPr>
      </p:sp>
      <p:sp>
        <p:nvSpPr>
          <p:cNvPr id="12" name="Text 9"/>
          <p:cNvSpPr/>
          <p:nvPr/>
        </p:nvSpPr>
        <p:spPr>
          <a:xfrm>
            <a:off x="7854257" y="4612184"/>
            <a:ext cx="157515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100" spc="96" dirty="0">
                <a:solidFill>
                  <a:srgbClr val="262E29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TRAJECTORY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739960" y="4936034"/>
            <a:ext cx="3892949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141A17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Growth analysis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739960" y="3446363"/>
            <a:ext cx="3892949" cy="12700"/>
          </a:xfrm>
          <a:prstGeom prst="rect">
            <a:avLst/>
          </a:prstGeom>
          <a:solidFill>
            <a:srgbClr val="141A17">
              <a:alpha val="24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7739960" y="4396284"/>
            <a:ext cx="3892949" cy="12700"/>
          </a:xfrm>
          <a:prstGeom prst="rect">
            <a:avLst/>
          </a:prstGeom>
          <a:solidFill>
            <a:srgbClr val="141A17">
              <a:alpha val="24000"/>
            </a:srgbClr>
          </a:solidFill>
          <a:ln/>
        </p:spPr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4A86BD2-AE56-87DE-2541-748224C8AF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1289" y="5996905"/>
            <a:ext cx="1920406" cy="80779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457200"/>
            <a:ext cx="11074123" cy="388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000" b="1" kern="100" spc="-60" dirty="0">
                <a:solidFill>
                  <a:srgbClr val="141A17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Category &amp; Sub-Category Analysis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58786" y="1036241"/>
            <a:ext cx="11632909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23" dirty="0">
                <a:solidFill>
                  <a:srgbClr val="57615A"/>
                </a:solidFill>
                <a:latin typeface="Familjen Grotesk Medium" pitchFamily="34" charset="0"/>
                <a:ea typeface="Familjen Grotesk Medium" pitchFamily="34" charset="-122"/>
                <a:cs typeface="Familjen Grotesk Medium" pitchFamily="34" charset="-120"/>
              </a:rPr>
              <a:t>Breakdown by core product lines and high-margin drivers</a:t>
            </a:r>
            <a:endParaRPr lang="en-US" sz="11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786" y="2148880"/>
            <a:ext cx="6349841" cy="355768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86056" y="2231033"/>
            <a:ext cx="4246853" cy="619720"/>
          </a:xfrm>
          <a:prstGeom prst="rect">
            <a:avLst/>
          </a:prstGeom>
          <a:solidFill>
            <a:srgbClr val="EDE4D2"/>
          </a:solidFill>
          <a:ln/>
        </p:spPr>
      </p:sp>
      <p:sp>
        <p:nvSpPr>
          <p:cNvPr id="6" name="Text 3"/>
          <p:cNvSpPr/>
          <p:nvPr/>
        </p:nvSpPr>
        <p:spPr>
          <a:xfrm>
            <a:off x="7614650" y="2408833"/>
            <a:ext cx="3789665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Technology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386056" y="3155553"/>
            <a:ext cx="4246853" cy="619720"/>
          </a:xfrm>
          <a:prstGeom prst="rect">
            <a:avLst/>
          </a:prstGeom>
          <a:solidFill>
            <a:srgbClr val="EDE4D2"/>
          </a:solidFill>
          <a:ln/>
        </p:spPr>
      </p:sp>
      <p:sp>
        <p:nvSpPr>
          <p:cNvPr id="8" name="Text 5"/>
          <p:cNvSpPr/>
          <p:nvPr/>
        </p:nvSpPr>
        <p:spPr>
          <a:xfrm>
            <a:off x="7614650" y="3333353"/>
            <a:ext cx="3789665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Furniture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386056" y="4080073"/>
            <a:ext cx="4246853" cy="619720"/>
          </a:xfrm>
          <a:prstGeom prst="rect">
            <a:avLst/>
          </a:prstGeom>
          <a:solidFill>
            <a:srgbClr val="EDE4D2"/>
          </a:solidFill>
          <a:ln/>
        </p:spPr>
      </p:sp>
      <p:sp>
        <p:nvSpPr>
          <p:cNvPr id="10" name="Text 7"/>
          <p:cNvSpPr/>
          <p:nvPr/>
        </p:nvSpPr>
        <p:spPr>
          <a:xfrm>
            <a:off x="7614650" y="4257873"/>
            <a:ext cx="3789665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Office Supplies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386056" y="5004594"/>
            <a:ext cx="4246853" cy="619720"/>
          </a:xfrm>
          <a:prstGeom prst="rect">
            <a:avLst/>
          </a:prstGeom>
          <a:solidFill>
            <a:srgbClr val="1F4D3A"/>
          </a:solidFill>
          <a:ln/>
        </p:spPr>
      </p:sp>
      <p:sp>
        <p:nvSpPr>
          <p:cNvPr id="12" name="Text 9"/>
          <p:cNvSpPr/>
          <p:nvPr/>
        </p:nvSpPr>
        <p:spPr>
          <a:xfrm>
            <a:off x="7614650" y="5182394"/>
            <a:ext cx="3789665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Top Profit Sub-Categories</a:t>
            </a:r>
            <a:endParaRPr lang="en-US" sz="16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F3F6557-D2F4-C96D-8B3F-3FAE7615AE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1289" y="5996905"/>
            <a:ext cx="1920406" cy="80779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457200"/>
            <a:ext cx="11074123" cy="388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000" b="1" kern="100" spc="-60" dirty="0">
                <a:solidFill>
                  <a:srgbClr val="141A17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Region &amp; Customer Segment Analysis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58786" y="1083866"/>
            <a:ext cx="2768531" cy="38100"/>
          </a:xfrm>
          <a:prstGeom prst="roundRect">
            <a:avLst>
              <a:gd name="adj" fmla="val 49999"/>
            </a:avLst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558786" y="2761258"/>
            <a:ext cx="5308467" cy="2098675"/>
          </a:xfrm>
          <a:prstGeom prst="rect">
            <a:avLst/>
          </a:prstGeom>
          <a:solidFill>
            <a:srgbClr val="EDE4D2"/>
          </a:solidFill>
          <a:ln/>
        </p:spPr>
      </p:sp>
      <p:sp>
        <p:nvSpPr>
          <p:cNvPr id="5" name="Text 3"/>
          <p:cNvSpPr/>
          <p:nvPr/>
        </p:nvSpPr>
        <p:spPr>
          <a:xfrm>
            <a:off x="914377" y="3066058"/>
            <a:ext cx="4952876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100" spc="88" dirty="0">
                <a:solidFill>
                  <a:srgbClr val="000000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GEOGRAPHIC FOOTPRINT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377" y="3367683"/>
            <a:ext cx="4597285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West, East, Central, South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914377" y="3921720"/>
            <a:ext cx="4597285" cy="31651"/>
          </a:xfrm>
          <a:prstGeom prst="roundRect">
            <a:avLst>
              <a:gd name="adj" fmla="val 49998"/>
            </a:avLst>
          </a:prstGeom>
          <a:solidFill>
            <a:srgbClr val="141A17">
              <a:alpha val="24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14377" y="4253508"/>
            <a:ext cx="4597285" cy="225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Regional sales distribution and territory coverage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24442" y="2761258"/>
            <a:ext cx="5308467" cy="2098675"/>
          </a:xfrm>
          <a:prstGeom prst="rect">
            <a:avLst/>
          </a:prstGeom>
          <a:solidFill>
            <a:srgbClr val="141A17"/>
          </a:solidFill>
          <a:ln/>
        </p:spPr>
      </p:sp>
      <p:sp>
        <p:nvSpPr>
          <p:cNvPr id="10" name="Text 8"/>
          <p:cNvSpPr/>
          <p:nvPr/>
        </p:nvSpPr>
        <p:spPr>
          <a:xfrm>
            <a:off x="6680033" y="3066058"/>
            <a:ext cx="4952876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100" spc="88" dirty="0">
                <a:solidFill>
                  <a:srgbClr val="E8A33D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BUYER PROFILES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680033" y="3367683"/>
            <a:ext cx="4597285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Consumer, Corporate, Home Office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680033" y="3921720"/>
            <a:ext cx="4597285" cy="31651"/>
          </a:xfrm>
          <a:prstGeom prst="roundRect">
            <a:avLst>
              <a:gd name="adj" fmla="val 49998"/>
            </a:avLst>
          </a:prstGeom>
          <a:solidFill>
            <a:srgbClr val="141A17">
              <a:alpha val="2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680033" y="4253508"/>
            <a:ext cx="4597285" cy="225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Customer segment revenue mix and order volumes</a:t>
            </a:r>
            <a:endParaRPr lang="en-US" sz="12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CC78D1F-13B6-1631-C995-8F84C51EED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6043" y="6034509"/>
            <a:ext cx="1920406" cy="80779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508000"/>
            <a:ext cx="11074123" cy="388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000" b="1" kern="100" spc="-60" dirty="0">
                <a:solidFill>
                  <a:srgbClr val="141A17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Insights &amp; Recommendations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58786" y="1134666"/>
            <a:ext cx="2768531" cy="38100"/>
          </a:xfrm>
          <a:prstGeom prst="roundRect">
            <a:avLst>
              <a:gd name="adj" fmla="val 49999"/>
            </a:avLst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558786" y="2931815"/>
            <a:ext cx="2425639" cy="1757561"/>
          </a:xfrm>
          <a:prstGeom prst="rect">
            <a:avLst/>
          </a:prstGeom>
          <a:solidFill>
            <a:srgbClr val="EDE4D2"/>
          </a:solidFill>
          <a:ln/>
        </p:spPr>
      </p:sp>
      <p:sp>
        <p:nvSpPr>
          <p:cNvPr id="5" name="Shape 3"/>
          <p:cNvSpPr/>
          <p:nvPr/>
        </p:nvSpPr>
        <p:spPr>
          <a:xfrm>
            <a:off x="787380" y="3185815"/>
            <a:ext cx="1045343" cy="304800"/>
          </a:xfrm>
          <a:prstGeom prst="roundRect">
            <a:avLst>
              <a:gd name="adj" fmla="val 7500"/>
            </a:avLst>
          </a:prstGeom>
          <a:solidFill>
            <a:srgbClr val="DBF0E7"/>
          </a:solidFill>
          <a:ln/>
        </p:spPr>
      </p:sp>
      <p:sp>
        <p:nvSpPr>
          <p:cNvPr id="6" name="Text 4"/>
          <p:cNvSpPr/>
          <p:nvPr/>
        </p:nvSpPr>
        <p:spPr>
          <a:xfrm>
            <a:off x="901677" y="3242965"/>
            <a:ext cx="142633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100" spc="96" dirty="0">
                <a:solidFill>
                  <a:srgbClr val="262E29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CATEGORY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87380" y="3643015"/>
            <a:ext cx="1968451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✅</a:t>
            </a:r>
            <a:r>
              <a:rPr lang="en-US" sz="16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Technology highest sales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441614" y="2931815"/>
            <a:ext cx="2425639" cy="1757561"/>
          </a:xfrm>
          <a:prstGeom prst="rect">
            <a:avLst/>
          </a:prstGeom>
          <a:solidFill>
            <a:srgbClr val="EDE4D2"/>
          </a:solidFill>
          <a:ln/>
        </p:spPr>
      </p:sp>
      <p:sp>
        <p:nvSpPr>
          <p:cNvPr id="9" name="Shape 7"/>
          <p:cNvSpPr/>
          <p:nvPr/>
        </p:nvSpPr>
        <p:spPr>
          <a:xfrm>
            <a:off x="3670208" y="3185815"/>
            <a:ext cx="995238" cy="304800"/>
          </a:xfrm>
          <a:prstGeom prst="roundRect">
            <a:avLst>
              <a:gd name="adj" fmla="val 7500"/>
            </a:avLst>
          </a:prstGeom>
          <a:solidFill>
            <a:srgbClr val="DBF0E7"/>
          </a:solidFill>
          <a:ln/>
        </p:spPr>
      </p:sp>
      <p:sp>
        <p:nvSpPr>
          <p:cNvPr id="10" name="Text 8"/>
          <p:cNvSpPr/>
          <p:nvPr/>
        </p:nvSpPr>
        <p:spPr>
          <a:xfrm>
            <a:off x="3784505" y="3242965"/>
            <a:ext cx="137622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100" spc="96" dirty="0">
                <a:solidFill>
                  <a:srgbClr val="262E29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SEGMENT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70208" y="3643015"/>
            <a:ext cx="1968451" cy="792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✅</a:t>
            </a:r>
            <a:r>
              <a:rPr lang="en-US" sz="16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Consumer segment highest revenue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324442" y="2931815"/>
            <a:ext cx="2425639" cy="1757561"/>
          </a:xfrm>
          <a:prstGeom prst="rect">
            <a:avLst/>
          </a:prstGeom>
          <a:solidFill>
            <a:srgbClr val="EDE4D2"/>
          </a:solidFill>
          <a:ln/>
        </p:spPr>
      </p:sp>
      <p:sp>
        <p:nvSpPr>
          <p:cNvPr id="13" name="Shape 11"/>
          <p:cNvSpPr/>
          <p:nvPr/>
        </p:nvSpPr>
        <p:spPr>
          <a:xfrm>
            <a:off x="6553036" y="3185815"/>
            <a:ext cx="1182360" cy="304800"/>
          </a:xfrm>
          <a:prstGeom prst="roundRect">
            <a:avLst>
              <a:gd name="adj" fmla="val 7500"/>
            </a:avLst>
          </a:prstGeom>
          <a:solidFill>
            <a:srgbClr val="DBF0E7"/>
          </a:solidFill>
          <a:ln/>
        </p:spPr>
      </p:sp>
      <p:sp>
        <p:nvSpPr>
          <p:cNvPr id="14" name="Text 12"/>
          <p:cNvSpPr/>
          <p:nvPr/>
        </p:nvSpPr>
        <p:spPr>
          <a:xfrm>
            <a:off x="6667333" y="3242965"/>
            <a:ext cx="156335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100" spc="96" dirty="0">
                <a:solidFill>
                  <a:srgbClr val="262E29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GEOGRAPHY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53036" y="3643015"/>
            <a:ext cx="1968451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✅</a:t>
            </a:r>
            <a:r>
              <a:rPr lang="en-US" sz="16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West region best performer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207270" y="2931815"/>
            <a:ext cx="2425639" cy="1757561"/>
          </a:xfrm>
          <a:prstGeom prst="rect">
            <a:avLst/>
          </a:prstGeom>
          <a:solidFill>
            <a:srgbClr val="EDE4D2"/>
          </a:solidFill>
          <a:ln/>
        </p:spPr>
      </p:sp>
      <p:sp>
        <p:nvSpPr>
          <p:cNvPr id="17" name="Shape 15"/>
          <p:cNvSpPr/>
          <p:nvPr/>
        </p:nvSpPr>
        <p:spPr>
          <a:xfrm>
            <a:off x="9435864" y="3185815"/>
            <a:ext cx="986408" cy="304800"/>
          </a:xfrm>
          <a:prstGeom prst="roundRect">
            <a:avLst>
              <a:gd name="adj" fmla="val 7500"/>
            </a:avLst>
          </a:prstGeom>
          <a:solidFill>
            <a:srgbClr val="DBF0E7"/>
          </a:solidFill>
          <a:ln/>
        </p:spPr>
      </p:sp>
      <p:sp>
        <p:nvSpPr>
          <p:cNvPr id="18" name="Text 16"/>
          <p:cNvSpPr/>
          <p:nvPr/>
        </p:nvSpPr>
        <p:spPr>
          <a:xfrm>
            <a:off x="9550161" y="3242965"/>
            <a:ext cx="136739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100" spc="96" dirty="0">
                <a:solidFill>
                  <a:srgbClr val="262E29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SHIPPING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435864" y="3643015"/>
            <a:ext cx="1968451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✅</a:t>
            </a:r>
            <a:r>
              <a:rPr lang="en-US" sz="16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Standard Class most profitable</a:t>
            </a:r>
            <a:endParaRPr lang="en-US" sz="16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777BDA7-DDE7-C25B-5CF2-AB3D82D937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8878" y="6050210"/>
            <a:ext cx="1920406" cy="80779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475</Words>
  <Application>Microsoft Office PowerPoint</Application>
  <PresentationFormat>Widescreen</PresentationFormat>
  <Paragraphs>104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0" baseType="lpstr">
      <vt:lpstr>Nunito Sans SemiBold</vt:lpstr>
      <vt:lpstr>Newsreader</vt:lpstr>
      <vt:lpstr>Familjen Grotesk SemiBold</vt:lpstr>
      <vt:lpstr>Nunito Sans</vt:lpstr>
      <vt:lpstr>Familjen Grotesk Medium</vt:lpstr>
      <vt:lpstr>Noto Color Emoji</vt:lpstr>
      <vt:lpstr>Arial</vt:lpstr>
      <vt:lpstr>Familjen Grotesk Bold</vt:lpstr>
      <vt:lpstr>Nunito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Pranjal</dc:creator>
  <cp:lastModifiedBy>pranjal yadav</cp:lastModifiedBy>
  <cp:revision>2</cp:revision>
  <dcterms:created xsi:type="dcterms:W3CDTF">2026-10-06T16:54:57Z</dcterms:created>
  <dcterms:modified xsi:type="dcterms:W3CDTF">2026-10-06T16:59:10Z</dcterms:modified>
</cp:coreProperties>
</file>